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0"/>
            <a:ext cx="12188952" cy="6350"/>
          </a:xfrm>
          <a:prstGeom prst="rect">
            <a:avLst/>
          </a:prstGeom>
          <a:solidFill>
            <a:srgbClr val="0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88952" cy="6350"/>
          </a:xfrm>
          <a:prstGeom prst="rect">
            <a:avLst/>
          </a:prstGeom>
          <a:solidFill>
            <a:srgbClr val="0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03120"/>
            <a:ext cx="12188952" cy="6350"/>
          </a:xfrm>
          <a:prstGeom prst="rect">
            <a:avLst/>
          </a:prstGeom>
          <a:solidFill>
            <a:srgbClr val="0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880360"/>
            <a:ext cx="12188952" cy="6350"/>
          </a:xfrm>
          <a:prstGeom prst="rect">
            <a:avLst/>
          </a:prstGeom>
          <a:solidFill>
            <a:srgbClr val="0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657600"/>
            <a:ext cx="12188952" cy="6350"/>
          </a:xfrm>
          <a:prstGeom prst="rect">
            <a:avLst/>
          </a:prstGeom>
          <a:solidFill>
            <a:srgbClr val="0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434840"/>
            <a:ext cx="12188952" cy="6350"/>
          </a:xfrm>
          <a:prstGeom prst="rect">
            <a:avLst/>
          </a:prstGeom>
          <a:solidFill>
            <a:srgbClr val="0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212080"/>
            <a:ext cx="12188952" cy="6350"/>
          </a:xfrm>
          <a:prstGeom prst="rect">
            <a:avLst/>
          </a:prstGeom>
          <a:solidFill>
            <a:srgbClr val="0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989320"/>
            <a:ext cx="12188952" cy="6350"/>
          </a:xfrm>
          <a:prstGeom prst="rect">
            <a:avLst/>
          </a:prstGeom>
          <a:solidFill>
            <a:srgbClr val="0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37360"/>
            <a:ext cx="11731752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480560"/>
            <a:ext cx="11731752" cy="12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548640"/>
            <a:ext cx="1097280" cy="1097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9436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F172A"/>
                </a:solidFill>
                <a:latin typeface="Segoe UI"/>
              </a:rPr>
              <a:t>NRH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50292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8FAFC"/>
                </a:solidFill>
                <a:latin typeface="Segoe UI"/>
              </a:rPr>
              <a:t>NexusRH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1463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B6D4"/>
                </a:solidFill>
                <a:latin typeface="Segoe UI"/>
              </a:rPr>
              <a:t>Spécifications Fonctionnelles Techniques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1965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Segoe UI"/>
              </a:rPr>
              <a:t>SIRH SaaS Multi-Tenant — Architecture, API, Sécurité, 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Version 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651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1.0.0 — Avril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0358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Stack 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3035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Node.js 20 · Fastify 4 · Drizzle ORM · React 18 · PostgreSQL 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41985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IA 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41985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Claude Sonnet 4 (Anthropic) · Mistral Large (Mistral AI)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80390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Auteur 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380390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OpenLab — Équipe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1879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Diffusion 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41879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Interne + Partenaires techniques autorisés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663440"/>
            <a:ext cx="10725912" cy="64008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70916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9E0B"/>
                </a:solidFill>
                <a:latin typeface="Segoe UI"/>
              </a:rPr>
              <a:t>⚠  Confidentiel — Ce document contient des informations techniques propriétaires. Ne pas divulguer sans accord écrit.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Segoe UI"/>
              </a:rPr>
              <a:t>Table des matières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Segoe UI"/>
              </a:rPr>
              <a:t>NexusRH — Spécifications Fonctionnelles Techniques  |  Confidentiel — Diffusion restreinte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669280" cy="566928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502920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41732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Vue d'ensemble &amp; architecture globale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84248"/>
            <a:ext cx="5669280" cy="566928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984248"/>
            <a:ext cx="502920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984248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07568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Stack technique détaillée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42616"/>
            <a:ext cx="5669280" cy="566928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642616"/>
            <a:ext cx="502920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642616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73405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Architecture multi-tenant (schema-per-tenant)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00984"/>
            <a:ext cx="5669280" cy="566928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300984"/>
            <a:ext cx="502920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300984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39242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Authentification, autorisation &amp; RBAC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59352"/>
            <a:ext cx="5669280" cy="566928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59352"/>
            <a:ext cx="502920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959352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05079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Modules fonctionnels — API REST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617720"/>
            <a:ext cx="5669280" cy="566928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617720"/>
            <a:ext cx="502920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617720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70916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Moteur de paie — Logique &amp; calculs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76088"/>
            <a:ext cx="5669280" cy="566928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276088"/>
            <a:ext cx="502920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276088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36752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Intégration IA — Claude &amp; Mistral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1325880"/>
            <a:ext cx="5669280" cy="566928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1325880"/>
            <a:ext cx="502920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1325880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141732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Gestion des fichiers &amp; stockage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1984248"/>
            <a:ext cx="5669280" cy="566928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1984248"/>
            <a:ext cx="502920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1984248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207568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Recherche &amp; indexation (Meilisearch)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2642616"/>
            <a:ext cx="5669280" cy="566928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0" y="2642616"/>
            <a:ext cx="502920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2642616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273405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Sécurité &amp; conformité RGPD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3300984"/>
            <a:ext cx="5669280" cy="566928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0" y="3300984"/>
            <a:ext cx="502920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3300984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95160" y="339242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Infrastructure &amp; déploiement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3959352"/>
            <a:ext cx="5669280" cy="566928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00800" y="3959352"/>
            <a:ext cx="502920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3959352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95160" y="405079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Performance &amp; scalabilité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4617720"/>
            <a:ext cx="5669280" cy="566928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00800" y="4617720"/>
            <a:ext cx="502920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0" y="4617720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95160" y="470916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Tests &amp; qualité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5276088"/>
            <a:ext cx="5669280" cy="566928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00800" y="5276088"/>
            <a:ext cx="502920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0" y="5276088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95160" y="536752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Annexes — Schémas &amp; endpoints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Segoe UI"/>
              </a:rPr>
              <a:t>01 — Vue d'ensemble &amp; architecture globale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6B6D4"/>
                </a:solidFill>
                <a:latin typeface="Segoe UI"/>
              </a:rPr>
              <a:t>Système distribué, modulaire, cloud-native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Segoe UI"/>
              </a:rPr>
              <a:t>NexusRH — Spécifications Fonctionnelles Techniques  |  Confidentiel — Diffusion restreinte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3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11274552" cy="448056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011680" cy="5852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20116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Segoe UI"/>
              </a:rPr>
              <a:t>Frontend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527048"/>
            <a:ext cx="8961120" cy="10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40" y="1417320"/>
            <a:ext cx="8961120" cy="5852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1508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React 18 + Vite 5 · shadcn/ui · TanStack Query 5 · Zustand 4 · React Router 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093976"/>
            <a:ext cx="2011680" cy="5852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093976"/>
            <a:ext cx="20116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Segoe UI"/>
              </a:rPr>
              <a:t>API Gateway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40" y="2203704"/>
            <a:ext cx="8961120" cy="10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06040" y="2093976"/>
            <a:ext cx="8961120" cy="5852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2185416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Fastify 4 · JWT + OAuth2 · Rate limiting · CORS · Swagger UI · Multipart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770632"/>
            <a:ext cx="2011680" cy="5852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770632"/>
            <a:ext cx="20116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Segoe UI"/>
              </a:rPr>
              <a:t>Business Logic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40" y="2880360"/>
            <a:ext cx="8961120" cy="1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06040" y="2770632"/>
            <a:ext cx="8961120" cy="5852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0" y="286207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Modules RH · Moteur paie · Workflow absences/frais · RBAC middleware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447288"/>
            <a:ext cx="2011680" cy="5852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447288"/>
            <a:ext cx="20116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Segoe UI"/>
              </a:rPr>
              <a:t>AI Layer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06040" y="3557016"/>
            <a:ext cx="8961120" cy="1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06040" y="3447288"/>
            <a:ext cx="8961120" cy="5852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35387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Claude Sonnet 4 (SSE streaming) · Mistral Large · Comparateur automatique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123944"/>
            <a:ext cx="2011680" cy="58521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123944"/>
            <a:ext cx="20116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Segoe UI"/>
              </a:rPr>
              <a:t>Data Layer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06040" y="4233672"/>
            <a:ext cx="8961120" cy="10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06040" y="4123944"/>
            <a:ext cx="8961120" cy="5852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0" y="4215384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PostgreSQL 16 (multi-schema) · Drizzle ORM · Redis 7 (sessions/cache)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800600"/>
            <a:ext cx="2011680" cy="5852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800600"/>
            <a:ext cx="20116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Segoe UI"/>
              </a:rPr>
              <a:t>Infra Layer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06040" y="4910328"/>
            <a:ext cx="8961120" cy="101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06040" y="4800600"/>
            <a:ext cx="8961120" cy="5852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0" y="48920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MinIO S3 · Meilisearch · BullMQ workers · Docker Compose · GitHub Actions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06B6D4"/>
                </a:solidFill>
                <a:latin typeface="Segoe UI"/>
              </a:rPr>
              <a:t>Communication inter-layers : HTTP/REST (sync) · BullMQ jobs (async) · SSE streaming (IA) · WebSocket (notif temps réel)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Segoe UI"/>
              </a:rPr>
              <a:t>02 — Stack technique détaillée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6B6D4"/>
                </a:solidFill>
                <a:latin typeface="Segoe UI"/>
              </a:rPr>
              <a:t>Choix technologiques et justifications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Segoe UI"/>
              </a:rPr>
              <a:t>NexusRH — Spécifications Fonctionnelles Techniques  |  Confidentiel — Diffusion restreinte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4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3703320" cy="457200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370332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89888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Segoe UI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2024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Node.js 20 LTS + TypeScript 5 (strict: true)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7744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Fastify 4 — performances 3x Express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3464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Drizzle ORM — type-safe, migrations 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9184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@fastify/jwt — access + refresh tokens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4904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@fastify/oauth2 — Google, Microsoft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otplib — TOTP MFA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66344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Nodemailer + MJML — emails 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12064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PDFKit + @react-pdf/renderer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57784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BullMQ — jobs asynchrones Redis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1325880"/>
            <a:ext cx="3703320" cy="457200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1325880"/>
            <a:ext cx="370332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1389888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Segoe UI"/>
              </a:rPr>
              <a:t>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192024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React 18 + TypeScript 5 + Vite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37744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shadcn/ui + Radix UI + Tailwind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83464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Framer Motion 11 — animations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29184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Zustand 4 — state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74904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TanStack Query 5 — data fetching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20624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React Hook Form + Zod — formulaires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66344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React Router 6 — navigation protégée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12064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Recharts — visualisations données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57784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react-i18next — internationalisation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1325880"/>
            <a:ext cx="3703320" cy="457200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1325880"/>
            <a:ext cx="370332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1389888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Segoe UI"/>
              </a:rPr>
              <a:t>DATA &amp; INFRA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192024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PostgreSQL 16 — multi-schema tenant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237744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Redis 7 — sessions, cache, queues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283464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MinIO (S3-compatible) — fichiers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329184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Meilisearch — recherche full-text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74904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Docker Compose — dev local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420624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GitHub Actions — CI/CD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466344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AWS SDK v3 — abstraction S3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Segoe UI"/>
              </a:rPr>
              <a:t>03 — Architecture multi-tenant — schema-per-tenant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6B6D4"/>
                </a:solidFill>
                <a:latin typeface="Segoe UI"/>
              </a:rPr>
              <a:t>Stratégie d'isolation : un schéma PostgreSQL dédié par tenant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Segoe UI"/>
              </a:rPr>
              <a:t>NexusRH — Spécifications Fonctionnelles Techniques  |  Confidentiel — Diffusion restreinte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5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6583680" cy="3200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658368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399032"/>
            <a:ext cx="6364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Segoe UI"/>
              </a:rPr>
              <a:t>PostgreSQL — Isolation multi-schema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709928"/>
            <a:ext cx="6364224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-- Schéma global (plateforme)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schema platform : tenants | platform_users | tenant_invitations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-- Un schéma par tenant (automatiquement provisionné)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schema "tenant_techcorp" : users | employees | departments | contracts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                       payroll_rules | pay_slips | absences | expenses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                       trainings | evaluations | career_skills | ...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-- Isolation par requête (middleware Fastify)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SET search_path = tenant_techcorp, shared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-- Jamais de nom de schéma en dur dans le code applicatif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const db = getTenantDbForRequest(request)  // search_path auto-configuré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3258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Segoe UI"/>
              </a:rPr>
              <a:t>Flux de provisionnement d'un nouveau tenant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783080"/>
            <a:ext cx="41148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178308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Segoe UI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1783080"/>
            <a:ext cx="4023360" cy="45720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183794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INSERT INTO platform.tenants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2331720"/>
            <a:ext cx="41148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23317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Segoe UI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2331720"/>
            <a:ext cx="4023360" cy="45720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238658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CREATE SCHEMA tenant_{slug}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2880360"/>
            <a:ext cx="41148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28803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Segoe UI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2880360"/>
            <a:ext cx="4023360" cy="45720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293522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Drizzle migrations programmatiques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3429000"/>
            <a:ext cx="41148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34290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Segoe UI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3429000"/>
            <a:ext cx="4023360" cy="45720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60" y="348386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INSERT admin user dans tenant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3977640"/>
            <a:ext cx="41148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397764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Segoe UI"/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3977640"/>
            <a:ext cx="4023360" cy="45720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09560" y="403250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Envoi email invitation (async)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617720"/>
            <a:ext cx="11247120" cy="1371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617720"/>
            <a:ext cx="1124712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4690872"/>
            <a:ext cx="11027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Segoe UI"/>
              </a:rPr>
              <a:t>tenant.ts — résolution automatique par requête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5001768"/>
            <a:ext cx="1102766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// getTenantDbForRequest — extrait JWT → schemaName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export function getTenantDbForRequest(req: FastifyRequest) {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const schema = req.user.schemaName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const client = new Pool({ connectionString: config.db.url })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client.query(`SET search_path = "${schema}", shared`)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return drizzle(client, { schema: tenantSchema })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Segoe UI"/>
              </a:rPr>
              <a:t>04 — Authentification, autorisation &amp; RBAC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6B6D4"/>
                </a:solidFill>
                <a:latin typeface="Segoe UI"/>
              </a:rPr>
              <a:t>JWT RS256, OAuth2, MFA TOTP, 7 rôles hiérarchiques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Segoe UI"/>
              </a:rPr>
              <a:t>NexusRH — Spécifications Fonctionnelles Techniques  |  Confidentiel — Diffusion restreinte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6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5029200" cy="219456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Segoe UI"/>
              </a:rPr>
              <a:t>🔐  Flux d'authentification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Segoe UI"/>
              </a:rPr>
              <a:t>1. POST /auth/login {email, password}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48840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Segoe UI"/>
              </a:rPr>
              <a:t>2. findTenantAndUser() → cherche TOUS les tenants candidats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68880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Segoe UI"/>
              </a:rPr>
              <a:t>3. bcrypt.compare() → identifie le bon tenant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Segoe UI"/>
              </a:rPr>
              <a:t>4. Si MFA activé → challenge TOTP OTP requis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08960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Segoe UI"/>
              </a:rPr>
              <a:t>5. Génère accessToken (7j) + refreshToken (30j)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29000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Segoe UI"/>
              </a:rPr>
              <a:t>6. Retourne { user, token, tenantConfig } (thème dynamique)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325880"/>
            <a:ext cx="6035040" cy="219456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13716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Segoe UI"/>
              </a:rPr>
              <a:t>👤  Hiérarchie des rôles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182880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Segoe UI"/>
              </a:rPr>
              <a:t>super_admin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18288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Segoe UI"/>
              </a:rPr>
              <a:t>Plateforme uniquement — zéro accès données RH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209854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09854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Segoe UI"/>
              </a:rPr>
              <a:t>Admin tenant — tous droits RH de son tenant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23682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hr_manager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36829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Segoe UI"/>
              </a:rPr>
              <a:t>RH senior — paie, clôture, recrutement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263804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Segoe UI"/>
              </a:rPr>
              <a:t>hr_officer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638044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Segoe UI"/>
              </a:rPr>
              <a:t>RH opérationnel — saisie &amp; consultation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290779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Segoe UI"/>
              </a:rPr>
              <a:t>manager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90779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Segoe UI"/>
              </a:rPr>
              <a:t>Manager — son équipe seulement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17754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Segoe UI"/>
              </a:rPr>
              <a:t>employee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317754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Segoe UI"/>
              </a:rPr>
              <a:t>Self-service — son espace personnel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344728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Segoe UI"/>
              </a:rPr>
              <a:t>readonly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44728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Segoe UI"/>
              </a:rPr>
              <a:t>Lecture seule — aucune modification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657600"/>
            <a:ext cx="5029200" cy="2331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657600"/>
            <a:ext cx="502920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730752"/>
            <a:ext cx="4809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Segoe UI"/>
              </a:rPr>
              <a:t>plugins/auth.ts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4041648"/>
            <a:ext cx="4809744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// fastify.authenticate — vérifie JWT + set search_path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fastify.decorate('authenticate', async (req, reply) =&gt; {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await req.jwtVerify()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const { schemaName } = req.user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await req.server.pg.query(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`SET search_path = "${schemaName}", shared`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})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// fastify.authorize(...roles) — contrôle RBAC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fastify.decorate('authorize', (...roles) =&gt; async (req, reply) =&gt; {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if (!roles.includes(req.user.role))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return reply.status(403).send({ error: 'Accès interdit' })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})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3657600"/>
            <a:ext cx="6035040" cy="2331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0" y="3657600"/>
            <a:ext cx="603504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79008" y="3730752"/>
            <a:ext cx="5815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Segoe UI"/>
              </a:rPr>
              <a:t>Structure JWT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79008" y="4041648"/>
            <a:ext cx="5815584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// Payload JWT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"sub":        "uuid-user-id",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"tenantId":   "uuid-tenant-id",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"schemaName": "tenant_techcorp",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"role":       "hr_manager",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"email":      "rh@techcorp.com",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"employeeId": "uuid-emp-id",  // si lié à un employé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"iat":        1735000000,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"exp":        1735604800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Segoe UI"/>
              </a:rPr>
              <a:t>05 — Modules fonctionnels — API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6B6D4"/>
                </a:solidFill>
                <a:latin typeface="Segoe UI"/>
              </a:rPr>
              <a:t>50+ endpoints RESTful, documentés Swagger, protégés RBAC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Segoe UI"/>
              </a:rPr>
              <a:t>NexusRH — Spécifications Fonctionnelles Techniques  |  Confidentiel — Diffusion restreinte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7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486400" cy="2286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48640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399032"/>
            <a:ext cx="5266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Segoe UI"/>
              </a:rPr>
              <a:t>/employees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709928"/>
            <a:ext cx="5266944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GET    /employees          → liste paginée + filtres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POST   /employees          → créer employé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GET    /employees/:id      → détail complet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PATCH  /employees/:id      → mise à jour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DELETE /employees/:id      → soft delete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POST   /employees/import   → CSV bulk import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GET    /employees/export   → export CSV/XLSX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94760"/>
            <a:ext cx="5486400" cy="2286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794760"/>
            <a:ext cx="548640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867912"/>
            <a:ext cx="5266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Segoe UI"/>
              </a:rPr>
              <a:t>/absences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4178808"/>
            <a:ext cx="5266944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GET    /absences           → liste + filtres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POST   /absences           → nouvelle demande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PATCH  /absences/:id/approve → workflow niveau N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PATCH  /absences/:id/reject  → refus motivé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GET    /absences/balances  → soldes par employé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GET    /absences/planning  → planning équipe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GET    /absences/my-absences → self-service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325880"/>
            <a:ext cx="5486400" cy="2286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325880"/>
            <a:ext cx="548640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1399032"/>
            <a:ext cx="5266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Segoe UI"/>
              </a:rPr>
              <a:t>/payroll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1709928"/>
            <a:ext cx="5266944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POST   /payroll/calculate  → calcul bulletin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POST   /payroll/close-period → clôture mensuelle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GET    /payroll/payslips   → liste bulletins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GET    /payroll/payslips/:id/pdf → PDF généré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GET    /payroll/my-payslips → self-service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POST   /payroll/dsn        → export DSN URSSAF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GET    /payroll/sepa       → virement SEPA XML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794760"/>
            <a:ext cx="5486400" cy="2286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794760"/>
            <a:ext cx="548640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3867912"/>
            <a:ext cx="5266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Segoe UI"/>
              </a:rPr>
              <a:t>/recruitment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4178808"/>
            <a:ext cx="5266944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GET    /recruitment/offers → offres actives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POST   /recruitment/offers → créer une offre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GET    /recruitment/candidates → candidatures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POST   /recruitment/candidates/:id/analyze-cv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POST   /recruitment/offers/:id/source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POST   /recruitment/offers/:id/source/compare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PATCH  /recruitment/candidates/:id/stage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Segoe UI"/>
              </a:rPr>
              <a:t>06 — Moteur de paie — Logique &amp; calculs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6B6D4"/>
                </a:solidFill>
                <a:latin typeface="Segoe UI"/>
              </a:rPr>
              <a:t>20 rubriques SYNTEC préconfigurées · France 2024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Segoe UI"/>
              </a:rPr>
              <a:t>NexusRH — Spécifications Fonctionnelles Techniques  |  Confidentiel — Diffusion restreinte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8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6400800" cy="4663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640080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399032"/>
            <a:ext cx="6181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Segoe UI"/>
              </a:rPr>
              <a:t>PayrollEngine — Algorithme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709928"/>
            <a:ext cx="6181344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PayrollEngine.calculate(ctx) : PayrollResult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ÉTAPE 1 — buildVariables()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BRUT = salaire brut mensuel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PLAFOND_SS = 3 864 € (2024)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TRANCHE_A = min(BRUT, PLAFOND_SS)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TRANCHE_B = max(0, min(BRUT, 4×PLAFOND_SS) - TRANCHE_A)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SMIC = 1 766,92 €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+ variableElements (heures supp, primes, IJSS…)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ÉTAPE 2 — Pour chaque rule (triée par order) :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safeEval(formula, vars)  →  whitelist [A-Z0-9_\s\+\-\*\/\.\(\)]+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Préfixe VAR:CODE = lire variableElement directement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ÉTAPE 3 — computeTotals()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grossSalary  = Σ earning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employeeCot  = Σ |employee_contribution|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employerCot  = Σ employer_contribution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netBeforeTax = grossSalary - employeeCot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netPayable   = netBeforeTax  // PAS via DSN ultérieurement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employerCost = grossSalary + employerCot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325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Segoe UI"/>
              </a:rPr>
              <a:t>Rubriques SYNTEC préconfigurées (20)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1755648"/>
            <a:ext cx="4663440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1783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  <a:latin typeface="Segoe UI"/>
              </a:rPr>
              <a:t>1000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1783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8FAFC"/>
                </a:solidFill>
                <a:latin typeface="Segoe UI"/>
              </a:rPr>
              <a:t>Salaire de 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17830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59E0B"/>
                </a:solidFill>
                <a:latin typeface="Segoe UI"/>
              </a:rPr>
              <a:t>earning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2084832"/>
            <a:ext cx="4663440" cy="32004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21122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  <a:latin typeface="Segoe UI"/>
              </a:rPr>
              <a:t>2000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11226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8FAFC"/>
                </a:solidFill>
                <a:latin typeface="Segoe UI"/>
              </a:rPr>
              <a:t>Congés payés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21122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59E0B"/>
                </a:solidFill>
                <a:latin typeface="Segoe UI"/>
              </a:rPr>
              <a:t>earning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2414016"/>
            <a:ext cx="4663440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24414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  <a:latin typeface="Segoe UI"/>
              </a:rPr>
              <a:t>4100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4414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8FAFC"/>
                </a:solidFill>
                <a:latin typeface="Segoe UI"/>
              </a:rPr>
              <a:t>CSG déductible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24414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59E0B"/>
                </a:solidFill>
                <a:latin typeface="Segoe UI"/>
              </a:rPr>
              <a:t>emp 6,80%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2743200"/>
            <a:ext cx="4663440" cy="32004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27706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  <a:latin typeface="Segoe UI"/>
              </a:rPr>
              <a:t>4110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7706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8FAFC"/>
                </a:solidFill>
                <a:latin typeface="Segoe UI"/>
              </a:rPr>
              <a:t>CSG non déductible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27706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59E0B"/>
                </a:solidFill>
                <a:latin typeface="Segoe UI"/>
              </a:rPr>
              <a:t>emp 2,40%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3072384"/>
            <a:ext cx="4663440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600" y="309981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  <a:latin typeface="Segoe UI"/>
              </a:rPr>
              <a:t>4120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0998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8FAFC"/>
                </a:solidFill>
                <a:latin typeface="Segoe UI"/>
              </a:rPr>
              <a:t>CRDS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30998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59E0B"/>
                </a:solidFill>
                <a:latin typeface="Segoe UI"/>
              </a:rPr>
              <a:t>emp 0,50%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80" y="3401568"/>
            <a:ext cx="4663440" cy="32004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86600" y="34290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  <a:latin typeface="Segoe UI"/>
              </a:rPr>
              <a:t>4210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3429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8FAFC"/>
                </a:solidFill>
                <a:latin typeface="Segoe UI"/>
              </a:rPr>
              <a:t>Maladie patronale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34290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59E0B"/>
                </a:solidFill>
                <a:latin typeface="Segoe UI"/>
              </a:rPr>
              <a:t>pat 7,00%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40880" y="3730752"/>
            <a:ext cx="4663440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86600" y="375818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  <a:latin typeface="Segoe UI"/>
              </a:rPr>
              <a:t>4300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37581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8FAFC"/>
                </a:solidFill>
                <a:latin typeface="Segoe UI"/>
              </a:rPr>
              <a:t>Alloc. familiales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37581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59E0B"/>
                </a:solidFill>
                <a:latin typeface="Segoe UI"/>
              </a:rPr>
              <a:t>pat 3,45%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80" y="4059936"/>
            <a:ext cx="4663440" cy="32004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86600" y="40873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  <a:latin typeface="Segoe UI"/>
              </a:rPr>
              <a:t>4400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40873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8FAFC"/>
                </a:solidFill>
                <a:latin typeface="Segoe UI"/>
              </a:rPr>
              <a:t>AT/MP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87000" y="40873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59E0B"/>
                </a:solidFill>
                <a:latin typeface="Segoe UI"/>
              </a:rPr>
              <a:t>pat 2,22%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40880" y="4389120"/>
            <a:ext cx="4663440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86600" y="44165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  <a:latin typeface="Segoe UI"/>
              </a:rPr>
              <a:t>4500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44165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8FAFC"/>
                </a:solidFill>
                <a:latin typeface="Segoe UI"/>
              </a:rPr>
              <a:t>Retraite base sal.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87000" y="44165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59E0B"/>
                </a:solidFill>
                <a:latin typeface="Segoe UI"/>
              </a:rPr>
              <a:t>emp 6,90%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40880" y="4718304"/>
            <a:ext cx="4663440" cy="32004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86600" y="474573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  <a:latin typeface="Segoe UI"/>
              </a:rPr>
              <a:t>4510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80960" y="47457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8FAFC"/>
                </a:solidFill>
                <a:latin typeface="Segoe UI"/>
              </a:rPr>
              <a:t>Retraite base pat.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87000" y="47457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59E0B"/>
                </a:solidFill>
                <a:latin typeface="Segoe UI"/>
              </a:rPr>
              <a:t>pat 8,55%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40880" y="5047488"/>
            <a:ext cx="4663440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86600" y="5074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  <a:latin typeface="Segoe UI"/>
              </a:rPr>
              <a:t>4600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5074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8FAFC"/>
                </a:solidFill>
                <a:latin typeface="Segoe UI"/>
              </a:rPr>
              <a:t>AGIRC-ARRCO T1 sal.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87000" y="50749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59E0B"/>
                </a:solidFill>
                <a:latin typeface="Segoe UI"/>
              </a:rPr>
              <a:t>emp 3,15%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40880" y="5376672"/>
            <a:ext cx="4663440" cy="32004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86600" y="540410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  <a:latin typeface="Segoe UI"/>
              </a:rPr>
              <a:t>4610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80960" y="540410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8FAFC"/>
                </a:solidFill>
                <a:latin typeface="Segoe UI"/>
              </a:rPr>
              <a:t>AGIRC-ARRCO T1 pat.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87000" y="54041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59E0B"/>
                </a:solidFill>
                <a:latin typeface="Segoe UI"/>
              </a:rPr>
              <a:t>pat 4,72%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040880" y="5705856"/>
            <a:ext cx="4663440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86600" y="57332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  <a:latin typeface="Segoe UI"/>
              </a:rPr>
              <a:t>5000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80960" y="57332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8FAFC"/>
                </a:solidFill>
                <a:latin typeface="Segoe UI"/>
              </a:rPr>
              <a:t>Mutuelle sal.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87000" y="57332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59E0B"/>
                </a:solidFill>
                <a:latin typeface="Segoe UI"/>
              </a:rPr>
              <a:t>45 €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40880" y="6035040"/>
            <a:ext cx="4663440" cy="32004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86600" y="60624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  <a:latin typeface="Segoe UI"/>
              </a:rPr>
              <a:t>5010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80960" y="60624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8FAFC"/>
                </a:solidFill>
                <a:latin typeface="Segoe UI"/>
              </a:rPr>
              <a:t>Mutuelle pat.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87000" y="60624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59E0B"/>
                </a:solidFill>
                <a:latin typeface="Segoe UI"/>
              </a:rPr>
              <a:t>90 €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Segoe UI"/>
              </a:rPr>
              <a:t>07 — Intégration IA — Claude &amp; Mistral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6B6D4"/>
                </a:solidFill>
                <a:latin typeface="Segoe UI"/>
              </a:rPr>
              <a:t>SDK natif · SSE streaming · Comparateur automatique · Scoring qualité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Segoe UI"/>
              </a:rPr>
              <a:t>NexusRH — Spécifications Fonctionnelles Techniques  |  Confidentiel — Diffusion restreinte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9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5669280" cy="3474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66928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399032"/>
            <a:ext cx="5449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Segoe UI"/>
              </a:rPr>
              <a:t>Claude API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709928"/>
            <a:ext cx="5449824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// CLAUDE — SDK @anthropic-ai/sdk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const client = new Anthropic({ apiKey: process.env.ANTHROPIC_API_KEY })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async function callClaude(prompt: string): Promise&lt;AIResponse&gt; {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const t0 = Date.now()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const msg = await client.messages.create({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model:      process.env.AI_MODEL ?? 'claude-sonnet-4-20250514',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max_tokens: 2000,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messages:   [{ role: 'user', content: prompt }]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})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const text = msg.content[0]?.type === 'text' ? msg.content[0].text : ''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return {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provider: 'claude', text,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inputTokens:  msg.usage.input_tokens,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outputTokens: msg.usage.output_tokens,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latencyMs:    Date.now() - t0,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estimatedCostEur: (msg.usage.input_tokens * 3 + msg.usage.output_tokens * 15) / 1e6 * 0.92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25880"/>
            <a:ext cx="5669280" cy="3474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325880"/>
            <a:ext cx="566928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399032"/>
            <a:ext cx="5449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Segoe UI"/>
              </a:rPr>
              <a:t>Mistral API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709928"/>
            <a:ext cx="5449824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// MISTRAL — API REST native (fetch)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async function callMistral(prompt: string): Promise&lt;AIResponse&gt; {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const t0 = Date.now()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const res = await fetch('https://api.mistral.ai/v1/chat/completions', {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method: 'POST',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headers: { Authorization: `Bearer ${process.env.MISTRAL_API_KEY}` },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body: JSON.stringify({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  model:    process.env.MISTRAL_MODEL ?? 'mistral-large-latest',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  messages: [{ role: 'user', content: prompt }]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})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})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const data = await res.json()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return {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provider: 'mistral',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text:         data.choices[0].message.content,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inputTokens:  data.usage.prompt_tokens,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outputTokens: data.usage.completion_tokens,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latencyMs:    Date.now() - t0,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estimatedCostEur: ...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37760"/>
            <a:ext cx="11247120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937760"/>
            <a:ext cx="1124712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010912"/>
            <a:ext cx="11027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Segoe UI"/>
              </a:rPr>
              <a:t>Endpoint comparateur — /source/compare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321808"/>
            <a:ext cx="1102766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// Comparateur automatique — POST /recruitment/offers/:id/source/compare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const [claudeResult, mistralResult] = await Promise.allSettled([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callClaude(buildSourcingPrompt(offer, platforms, maxProfiles)),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callMistral(buildSourcingPrompt(offer, platforms, maxProfiles))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])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// computeRichnessScore() → score objectif basé sur : nb profils, champs remplis, qualité JSON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// Recommendation automatique : winner = meilleur score | latence | coût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Segoe UI"/>
              </a:rPr>
              <a:t>10 — Sécurité &amp; conformité RGPD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6B6D4"/>
                </a:solidFill>
                <a:latin typeface="Segoe UI"/>
              </a:rPr>
              <a:t>Chiffrement, isolation, audit trail, durées de conservation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Segoe UI"/>
              </a:rPr>
              <a:t>NexusRH — Spécifications Fonctionnelles Techniques  |  Confidentiel — Diffusion restreinte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10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486400" cy="224028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48640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3560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Segoe UI"/>
              </a:rPr>
              <a:t>🔒  Chiffrement des données sensibles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NIR (numéro sécu) → AES-256-GCM chiffré en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95144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IBAN → AES-256-GCM chiffré en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24328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Mots de passe → bcrypt (cost 12)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5351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JWT → HS256 (secret 64+ chars) ou RS256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8269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Fichiers S3 → chiffrement côté serveur (SSE-S3)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5486400" cy="224028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794760"/>
            <a:ext cx="548640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0448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Segoe UI"/>
              </a:rPr>
              <a:t>🛡  Isolation multi-tenant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43484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Schéma PostgreSQL dédié par tenant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764024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search_path forcé sur CHAQUE requête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093208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Zéro requête cross-schema possible en applicatif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42239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super_admin : accès platform uniquement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75157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Audit log cross-tenant impossible par design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325880"/>
            <a:ext cx="5486400" cy="224028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1325880"/>
            <a:ext cx="548640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43560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Segoe UI"/>
              </a:rPr>
              <a:t>📋  Conformité RGPD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196596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Droit à l'oubli → DELETE + purge S3 automatisée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295144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Export RGPD → /platform/tenants/:id/export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624328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Durées légales : bulletins 50 ans | dossier 5 ans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95351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Logs audit immuables (insert only, pas d'update)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28269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DPA disponible sur demande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794760"/>
            <a:ext cx="5486400" cy="224028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3794760"/>
            <a:ext cx="54864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390448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Segoe UI"/>
              </a:rPr>
              <a:t>🔐  Contrôles d'accès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43484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RBAC 7 rôles + middleware authorize() Fastify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764024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Rate limiting : 100 req/min par IP (fastify/rate-limit)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093208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CORS strict : origines whitelistées uniquement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542239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MFA TOTP obligatoire (configurable par tenant)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75157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  • Tokens refresh rotation à chaque usage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Segoe UI"/>
              </a:rPr>
              <a:t>11 — Infrastructure &amp; déploiement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6B6D4"/>
                </a:solidFill>
                <a:latin typeface="Segoe UI"/>
              </a:rPr>
              <a:t>Docker Compose (dev) · Docker multi-stage (prod) · GitHub Actions CI/CD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Segoe UI"/>
              </a:rPr>
              <a:t>NexusRH — Spécifications Fonctionnelles Techniques  |  Confidentiel — Diffusion restreinte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11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5303520" cy="4663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0352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399032"/>
            <a:ext cx="5084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Segoe UI"/>
              </a:rPr>
              <a:t>Infrastructure locale (dev)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709928"/>
            <a:ext cx="5084064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# docker-compose.yml — Services dev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services: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postgres: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image: postgres:16-alpine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ports: ['5433:5432']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environment: { POSTGRES_DB: nexusrh, POSTGRES_USER: nexusrh }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redis: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image: redis:7-alpine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ports: ['6379:6379']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meilisearch: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image: getmeili/meilisearch:v1.6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ports: ['7700:7700']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minio: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image: minio/minio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ports: ['9000:9000', '9001:9001']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command: server /data --console-address ':9001'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3258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Segoe UI"/>
              </a:rPr>
              <a:t>Déploiement production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783080"/>
            <a:ext cx="5669280" cy="530352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783080"/>
            <a:ext cx="54864" cy="5303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83794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🐳  Docker multi-stage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83794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Segoe UI"/>
              </a:rPr>
              <a:t>Images optimisées : api (150MB) + web (25MB Nginx static)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377440"/>
            <a:ext cx="5669280" cy="530352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2377440"/>
            <a:ext cx="54864" cy="5303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43230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⚙  Variables d'env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43230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Segoe UI"/>
              </a:rPr>
              <a:t>Secrets injectés via Docker secrets ou Vault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2971800"/>
            <a:ext cx="5669280" cy="530352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2971800"/>
            <a:ext cx="54864" cy="5303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302666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🔄  CI/CD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02666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Segoe UI"/>
              </a:rPr>
              <a:t>GitHub Actions : lint → test → build → push registry → deploy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3566160"/>
            <a:ext cx="5669280" cy="530352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35040" y="3566160"/>
            <a:ext cx="54864" cy="5303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362102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📊  Monitoring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62102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Segoe UI"/>
              </a:rPr>
              <a:t>Pino logs (JSON) → Grafana Loki · métriques → Prometheus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4160520"/>
            <a:ext cx="5669280" cy="530352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0" y="4160520"/>
            <a:ext cx="54864" cy="5303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421538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🔁  Backup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21538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Segoe UI"/>
              </a:rPr>
              <a:t>pg_dump automatique toutes les 6h → S3 chiffré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4754880"/>
            <a:ext cx="5669280" cy="530352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35040" y="4754880"/>
            <a:ext cx="54864" cy="5303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480974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📈  Scalabilité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80974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Segoe UI"/>
              </a:rPr>
              <a:t>API stateless → scale horizontal · BullMQ workers séparés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5349240"/>
            <a:ext cx="5669280" cy="530352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35040" y="5349240"/>
            <a:ext cx="54864" cy="5303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540410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🌐  Reverse proxy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40410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Segoe UI"/>
              </a:rPr>
              <a:t>Nginx / Traefik · TLS Let's Encrypt · HTTP/2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5943600"/>
            <a:ext cx="5669280" cy="530352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35040" y="5943600"/>
            <a:ext cx="54864" cy="5303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599846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🔒  Secrets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599846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Segoe UI"/>
              </a:rPr>
              <a:t>JWT_SECRET ≥ 64 chars · rotation automatique refresh tokens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Segoe UI"/>
              </a:rPr>
              <a:t>12 — Performance &amp; scalabilité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6B6D4"/>
                </a:solidFill>
                <a:latin typeface="Segoe UI"/>
              </a:rPr>
              <a:t>Benchmarks, optimisations, SLAs cibles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Segoe UI"/>
              </a:rPr>
              <a:t>NexusRH — Spécifications Fonctionnelles Techniques  |  Confidentiel — Diffusion restreinte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12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2743200" cy="164592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4320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6B6D4"/>
                </a:solidFill>
                <a:latin typeface="Segoe UI"/>
              </a:rPr>
              <a:t>&lt; 50ms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488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P50 latence API
(hors calcul paie)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325880"/>
            <a:ext cx="2743200" cy="164592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325880"/>
            <a:ext cx="274320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4630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0B981"/>
                </a:solidFill>
                <a:latin typeface="Segoe UI"/>
              </a:rPr>
              <a:t>&lt; 200ms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1488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P99 latence API
(avec cache Redis)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325880"/>
            <a:ext cx="2743200" cy="164592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325880"/>
            <a:ext cx="27432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4630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C3AED"/>
                </a:solidFill>
                <a:latin typeface="Segoe UI"/>
              </a:rPr>
              <a:t>10 000+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1488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Requêtes/sec
(Fastify, single node)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325880"/>
            <a:ext cx="2743200" cy="164592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325880"/>
            <a:ext cx="27432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4630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  <a:latin typeface="Segoe UI"/>
              </a:rPr>
              <a:t>99,9%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1488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SLAs uptime cible
(prod enterprise)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00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Stratégies d'optimisation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703320"/>
            <a:ext cx="11274552" cy="36576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703320"/>
            <a:ext cx="54864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7398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🗃  Connection pooling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739896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PgBouncer + pool Drizzle (min 2, max 20) — connexions DB mutualisées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114800"/>
            <a:ext cx="11274552" cy="36576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114800"/>
            <a:ext cx="54864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15137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⚡  Cache Redis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4151376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Sessions JWT · résultats calcul KPIs · soldes congés (TTL 5 min)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526280"/>
            <a:ext cx="11274552" cy="36576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526280"/>
            <a:ext cx="54864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56285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🔍  Index DB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4562856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Tous les FK indexés · index composites email+tenantId · GIN sur JSONB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937760"/>
            <a:ext cx="11274552" cy="36576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4937760"/>
            <a:ext cx="54864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97433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📄  Lazy migrations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4974336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ensureTenantSchema() avec Set&lt;string&gt; en mémoire — exécution unique par schéma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349240"/>
            <a:ext cx="11274552" cy="36576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5349240"/>
            <a:ext cx="54864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38581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📦  Code splitting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0" y="5385816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Vite chunks par route · lazy imports · prefetch sur hover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760720"/>
            <a:ext cx="11274552" cy="36576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5760720"/>
            <a:ext cx="54864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7972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🌊  Streaming SSE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0" y="5797296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Réponses IA streamées → UX instantanée sans bloquer l'event loop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6172200"/>
            <a:ext cx="11274552" cy="36576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7200" y="6172200"/>
            <a:ext cx="54864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620877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🔄  BullMQ workers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91840" y="6208776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Segoe UI"/>
              </a:rPr>
              <a:t>Jobs lourds (paie batch, scoring IA, emails) hors du thread HTTP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8FAFC"/>
                </a:solidFill>
                <a:latin typeface="Segoe UI"/>
              </a:rPr>
              <a:t>13 — Tests &amp; qualité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6B6D4"/>
                </a:solidFill>
                <a:latin typeface="Segoe UI"/>
              </a:rPr>
              <a:t>Vitest (unit) · Playwright (E2E) · TypeScript strict · CI obligatoire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Segoe UI"/>
              </a:rPr>
              <a:t>NexusRH — Spécifications Fonctionnelles Techniques  |  Confidentiel — Diffusion restreinte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13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6400800" cy="4389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640080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399032"/>
            <a:ext cx="6181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Segoe UI"/>
              </a:rPr>
              <a:t>Tests automatisés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709928"/>
            <a:ext cx="6181344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// Tests unitaires — Vitest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describe('PayrollEngine', () =&gt; {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it('calcule net &gt;= 0 pour SMIC', () =&gt; {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const result = PayrollEngine.calculate({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  grossSalary: 1766.92, rules: baseRules, ...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})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expect(result.netPayable).toBeGreaterThan(0)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  expect(result.netPayable).toBeLessThan(result.grossSalary)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})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})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// Tests E2E — Playwright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test('employee voit ses bulletins', async ({ page }) =&gt; {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await page.goto('/login')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await page.fill('[name=email]', 'employe@techcorp.com')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await page.fill('[name=password]', 'Admin1234!')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await page.click('[type=submit]')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await page.goto('/mon-espace/bulletins')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  await expect(page.locator('.payslip-card')).toHaveCount(6)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F8FAFC"/>
                </a:solidFill>
                <a:latin typeface="Consolas"/>
              </a:rPr>
              <a:t>})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325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Segoe UI"/>
              </a:rPr>
              <a:t>Couverture &amp; CI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1783080"/>
            <a:ext cx="4663440" cy="50292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1783080"/>
            <a:ext cx="54864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184708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Segoe UI"/>
              </a:rPr>
              <a:t>Vitest unit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184708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Segoe UI"/>
              </a:rPr>
              <a:t>Moteur paie, auth, RBAC, provisionnement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2350008"/>
            <a:ext cx="4663440" cy="50292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0" y="2350008"/>
            <a:ext cx="54864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1401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Segoe UI"/>
              </a:rPr>
              <a:t>Playwright E2E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414016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Segoe UI"/>
              </a:rPr>
              <a:t>Auth, self-service employé, création tenant, workflow absences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2916936"/>
            <a:ext cx="4663440" cy="50292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2916936"/>
            <a:ext cx="54864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298094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Segoe UI"/>
              </a:rPr>
              <a:t>TypeScript strict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980944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Segoe UI"/>
              </a:rPr>
              <a:t>noUncheckedIndexedAccess, strictNullChecks — zéro any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3483864"/>
            <a:ext cx="4663440" cy="50292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80" y="3483864"/>
            <a:ext cx="54864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35478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Segoe UI"/>
              </a:rPr>
              <a:t>ESLint + Prettier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354787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Segoe UI"/>
              </a:rPr>
              <a:t>Qualité code homogène sur tout le monorepo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4050792"/>
            <a:ext cx="4663440" cy="50292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40880" y="4050792"/>
            <a:ext cx="54864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0" y="4114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Segoe UI"/>
              </a:rPr>
              <a:t>CI GitHub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4114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Segoe UI"/>
              </a:rPr>
              <a:t>lint → tsc → test → build à chaque PR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80" y="4617720"/>
            <a:ext cx="4663440" cy="50292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40880" y="4617720"/>
            <a:ext cx="54864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60" y="46817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Segoe UI"/>
              </a:rPr>
              <a:t>Coverage cible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468172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Segoe UI"/>
              </a:rPr>
              <a:t>70% unit · 90% E2E parcours critiques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40880" y="5184648"/>
            <a:ext cx="4663440" cy="50292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40880" y="5184648"/>
            <a:ext cx="54864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23760" y="524865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Segoe UI"/>
              </a:rPr>
              <a:t>Security audit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5248656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Segoe UI"/>
              </a:rPr>
              <a:t>npm audit + Dependabot alerts activés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416300"/>
            <a:ext cx="11731752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8FAFC"/>
                </a:solidFill>
                <a:latin typeface="Segoe UI"/>
              </a:rPr>
              <a:t>Annexes &amp; Ressources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486400" cy="68580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4864" cy="685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9222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📄  Swagger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848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Segoe UI"/>
              </a:rPr>
              <a:t>http://localhost:4000/docs — Documentation interactive complète de tous les endpoints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42032"/>
            <a:ext cx="5486400" cy="68580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42032"/>
            <a:ext cx="54864" cy="685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59689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🗄  Schéma 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88950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Segoe UI"/>
              </a:rPr>
              <a:t>apps/api/src/db/schema/ — Drizzle schema TypeScript (platform + tenant)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346704"/>
            <a:ext cx="5486400" cy="68580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346704"/>
            <a:ext cx="54864" cy="685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4015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🌱  Seed données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69417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Segoe UI"/>
              </a:rPr>
              <a:t>pnpm --filter api run db:seed — 2 tenants, 68 employés, 300 bulletins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151376"/>
            <a:ext cx="5486400" cy="68580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151376"/>
            <a:ext cx="54864" cy="685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2062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🔧  Variables env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4988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Segoe UI"/>
              </a:rPr>
              <a:t>.env.example — toutes les variables documentées avec valeurs par défaut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1737360"/>
            <a:ext cx="5486400" cy="68580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0" y="1737360"/>
            <a:ext cx="54864" cy="685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8272" y="179222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🐳  Docker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20848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Segoe UI"/>
              </a:rPr>
              <a:t>docker-compose.yml — 5 services : postgres, redis, meilisearch, minio, mailhog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542032"/>
            <a:ext cx="5486400" cy="68580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0" y="2542032"/>
            <a:ext cx="54864" cy="685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48272" y="259689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📝  CLAUDE.md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272" y="288950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Segoe UI"/>
              </a:rPr>
              <a:t>/CLAUDE.md — Document maître : architecture, patterns, pièges en production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3346704"/>
            <a:ext cx="5486400" cy="68580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0" y="3346704"/>
            <a:ext cx="54864" cy="685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48272" y="34015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🧪 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8272" y="369417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Segoe UI"/>
              </a:rPr>
              <a:t>pnpm test — unit (Vitest) · pnpm e2e — parcours complets (Playwright)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4151376"/>
            <a:ext cx="5486400" cy="68580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0" y="4151376"/>
            <a:ext cx="54864" cy="685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48272" y="42062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📊  Métriques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48272" y="44988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Segoe UI"/>
              </a:rPr>
              <a:t>GET /health — healthcheck · GET /metrics — Prometheus (si activé)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34924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  <a:latin typeface="Segoe UI"/>
              </a:rPr>
              <a:t>© 2025 OpenLab — NexusRH Spécifications Fonctionnelles v1.0  |  Toute reproduction interdite sans accord.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Segoe UI"/>
              </a:rPr>
              <a:t>NexusRH — Spécifications Fonctionnelles Techniques  |  Confidentiel — Diffusion restreinte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