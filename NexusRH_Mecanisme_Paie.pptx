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3200" cy="6858000" type="custom"/>
  <p:notesSz cx="121932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t">
            <a:normAutofit/>
          </a:bodyPr>
          <a:lstStyle/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1980000"/>
            <a:ext cx="12193200" cy="2700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5200" dirty="0">
                <a:b/>
                <a:solidFill>
                  <a:srgbClr val="FFFFFF"/>
                </a:solidFill>
                <a:latin typeface="Calibri"/>
              </a:rPr>
              <a:t>Mécanisme de Paie</a:t>
            </a:r>
          </a:p>
          <a:p>
            <a:pPr algn="c">
              <a:buNone/>
            </a:pPr>
            <a:r>
              <a:rPr lang="fr-FR" sz="2400" dirty="0">
                <a:solidFill>
                  <a:srgbClr val="94A3B8"/>
                </a:solidFill>
                <a:latin typeface="Calibri"/>
              </a:rPr>
              <a:t>NexusRH — SIRH SaaS Multi-Tenant</a:t>
            </a:r>
          </a:p>
          <a:p>
            <a:pPr algn="c">
              <a:buNone/>
            </a:pPr>
            <a:r>
              <a:rPr lang="fr-FR" sz="14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c">
              <a:buNone/>
            </a:pPr>
            <a:r>
              <a:rPr lang="fr-FR" sz="1800" dirty="0">
                <a:i/>
                <a:solidFill>
                  <a:srgbClr val="CBD5E1"/>
                </a:solidFill>
                <a:latin typeface="Calibri"/>
              </a:rPr>
              <a:t>Guide technique complet du moteur de calcul des bulletins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4320000" y="5220000"/>
            <a:ext cx="3600000" cy="28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t">
            <a:normAutofit/>
          </a:bodyPr>
          <a:lstStyle/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0" y="5940000"/>
            <a:ext cx="1219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solidFill>
                  <a:srgbClr val="475569"/>
                </a:solidFill>
                <a:latin typeface="Calibri"/>
              </a:rPr>
              <a:t>Confidentiel · NexusRH 2024 · Données de démonstration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Sommaire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Ce que couvre ce document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432000" y="118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1115999" y="118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Architecture du système de paie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1115999" y="145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Entités légales, employés, contrats, règles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432000" y="190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1115999" y="190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Les 4 types de rubriques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1115999" y="217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Gains, cotisations salariales/patronales, déductions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432000" y="262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1115999" y="262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Système de variables et formules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1115999" y="289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BRUT, TRANCHE_A/B, VAR:xxx, safeEval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432000" y="334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1115999" y="334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Algorithme du moteur PayrollEngine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1115999" y="361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buildVariables → evaluateRule → computeTotals</a:t>
            </a:r>
          </a:p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432000" y="406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1115999" y="406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Workflow mensuel</a:t>
            </a:r>
          </a:p>
        </p:txBody>
      </p:sp>
      <p:sp>
        <p:nvSpPr>
          <p:cNvPr id="17" name="box17"/>
          <p:cNvSpPr>
            <a:spLocks noGrp="1"/>
          </p:cNvSpPr>
          <p:nvPr/>
        </p:nvSpPr>
        <p:spPr>
          <a:xfrm>
            <a:off x="1115999" y="433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Open → Calculating → Review → Closed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432000" y="478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5999" y="478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Exemple concret chiffré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1115999" y="505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Calcul complet pour un employé à 4 900 € brut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432000" y="5508000"/>
            <a:ext cx="576000" cy="54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1115999" y="5508000"/>
            <a:ext cx="468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600" dirty="0">
                <a:b/>
                <a:solidFill>
                  <a:srgbClr val="1E293B"/>
                </a:solidFill>
                <a:latin typeface="Calibri"/>
              </a:rPr>
              <a:t>Checklist mensuelle RH</a:t>
            </a:r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1115999" y="5778000"/>
            <a:ext cx="4680000" cy="251999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Étapes à suivre chaque mois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Architecture du Système de Paie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Les 6 blocs fondamentaux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360000" y="1152000"/>
            <a:ext cx="2088000" cy="36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Entités Légales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360000" y="1512000"/>
            <a:ext cx="2088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Sociétés, établissements,
SIRET, CCN applicable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2520000" y="1152000"/>
            <a:ext cx="2088000" cy="3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Employés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2520000" y="1512000"/>
            <a:ext cx="2088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Données personnelles,
poste, ancienneté, salaire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680000" y="1152000"/>
            <a:ext cx="2088000" cy="36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Contrats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4680000" y="1512000"/>
            <a:ext cx="2088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CDI / CDD, salaire brut,
taux ETP, date début/fin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360000" y="3240000"/>
            <a:ext cx="2088000" cy="3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Règles de Paie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360000" y="3600000"/>
            <a:ext cx="2088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Rubriques cotisations,
formules de calcul, ordre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2520000" y="3240000"/>
            <a:ext cx="2088000" cy="3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Éléments Variables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2520000" y="3600000"/>
            <a:ext cx="2088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Heures supp, primes,
conges payés, IJSS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4680000" y="3240000"/>
            <a:ext cx="2088000" cy="3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Bulletins de Paie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680000" y="3600000"/>
            <a:ext cx="2088000" cy="648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Résultat final : net à payer,
coût employeur, lignes</a:t>
            </a:r>
          </a:p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2484000" y="1368000"/>
            <a:ext cx="251999" cy="18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000" dirty="0">
                <a:b/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644000" y="1368000"/>
            <a:ext cx="251999" cy="18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000" dirty="0">
                <a:b/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7" name="box17"/>
          <p:cNvSpPr>
            <a:spLocks noGrp="1"/>
          </p:cNvSpPr>
          <p:nvPr/>
        </p:nvSpPr>
        <p:spPr>
          <a:xfrm>
            <a:off x="2484000" y="3456000"/>
            <a:ext cx="251999" cy="18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000" dirty="0">
                <a:b/>
                <a:solidFill>
                  <a:srgbClr val="16A34A"/>
                </a:solidFill>
                <a:latin typeface="Calibri"/>
              </a:rPr>
              <a:t>→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4644000" y="3456000"/>
            <a:ext cx="251999" cy="18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000" dirty="0">
                <a:b/>
                <a:solidFill>
                  <a:srgbClr val="16A34A"/>
                </a:solidFill>
                <a:latin typeface="Calibri"/>
              </a:rPr>
              <a:t>→</a:t>
            </a:r>
          </a:p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260000" y="4320000"/>
            <a:ext cx="54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1300" dirty="0">
                <a:b/>
                <a:solidFill>
                  <a:srgbClr val="64748B"/>
                </a:solidFill>
                <a:latin typeface="Calibri"/>
              </a:rPr>
              <a:t>↓ calcul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360000" y="5940000"/>
            <a:ext cx="1152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i/>
                <a:solidFill>
                  <a:srgbClr val="64748B"/>
                </a:solidFill>
                <a:latin typeface="Calibri"/>
              </a:rPr>
              <a:t>PayrollEngine.calculate() orchestre tous ces blocs pour produire le bulletin.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Les 4 Types de Rubriques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Classification de chaque ligne du bulletin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360000" y="1080000"/>
            <a:ext cx="2700000" cy="360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Gain  [earning]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360000" y="1440000"/>
            <a:ext cx="2700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Rémunération du salarié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Salaire de base, CP, heures supplémentaires, primes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S'ajoute au brut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Exemple : Rubrique 1000 — Salaire de base = BRUT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3311999" y="1080000"/>
            <a:ext cx="2700000" cy="3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Cotisation Salarié  [employee_contribution]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3311999" y="1440000"/>
            <a:ext cx="2700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Retenue sur le salaire du salarié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CSG, CRDS, retraite salarié, mutuelle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Réduit le net à payer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Exemple : R.4100 — CSG déductible = BRUT * 0.9825 * 0.068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360000" y="3528000"/>
            <a:ext cx="2700000" cy="3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Cotisation Patron  [employer_contribution]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360000" y="3888000"/>
            <a:ext cx="2700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Charge supportée par l'employeur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Maladie pat., allocations familiales, retraite pat.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Augmente le coût employeur (hors net)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Exemple : R.4210 — Maladie emp. = BRUT * 0.07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3311999" y="3528000"/>
            <a:ext cx="2700000" cy="3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Déduction  [deduction]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3311999" y="3888000"/>
            <a:ext cx="2700000" cy="19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Retenue exceptionnelle sur le brut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IJSS (Indemnités Journalières SS)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Réduit le brut imposable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400" dirty="0">
                <a:solidFill>
                  <a:srgbClr val="1E293B"/>
                </a:solidFill>
                <a:latin typeface="Calibri"/>
              </a:rPr>
              <a:t>Exemple : R.3000 — IJSS = VAR:IJSS si arrêt maladie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Système de Variables &amp; Formules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Comment le moteur évalue chaque rubrique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360000" y="1116000"/>
            <a:ext cx="3420000" cy="28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Variables automatiques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360000" y="1440000"/>
            <a:ext cx="5580000" cy="486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BRUT  —  Salaire brut mensuel du contrat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BRUT_PRORATA  —  BRUT × (jours travaillés / jours ouvrés)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ETP  —  Équivalent Temps Plein (0.5 à 1.0)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PLAFOND_SS  —  Plafond Sécu Sociale mensuel (3 864 €)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TRANCHE_A  —  min(BRUT, PLAFOND_SS) — base retraite T1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TRANCHE_B  —  BRUT entre PLAFOND_SS et 4×PLAFOND_SS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SMIC  —  SMIC mensuel 35h (1 766,92 €)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JOURS_ABSENCE  —  Nombre de jours d'absence non payée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HEURES_SUPP  —  Heures supplémentaires du mois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6300000" y="1116000"/>
            <a:ext cx="5400000" cy="28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Syntaxe des formules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6300000" y="1440000"/>
            <a:ext cx="5400000" cy="342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  Expression directe</a:t>
            </a:r>
          </a:p>
          <a:p>
            <a:pPr algn="l">
              <a:buNone/>
            </a:pPr>
            <a:r>
              <a:rPr lang="fr-FR" sz="1300" dirty="0">
                <a:solidFill>
                  <a:srgbClr val="4F46E5"/>
                </a:solidFill>
                <a:latin typeface="Calibri"/>
              </a:rPr>
              <a:t>     → BRUT * 0.9825 * 0.068</a:t>
            </a:r>
          </a:p>
          <a:p>
            <a:pPr algn="l">
              <a:buNone/>
            </a:pPr>
            <a:r>
              <a:rPr lang="fr-FR" sz="1100" dirty="0">
                <a:i/>
                <a:solidFill>
                  <a:srgbClr val="64748B"/>
                </a:solidFill>
                <a:latin typeface="Calibri"/>
              </a:rPr>
              <a:t>       Évaluée par safeEval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  Préfixe VAR:</a:t>
            </a:r>
          </a:p>
          <a:p>
            <a:pPr algn="l">
              <a:buNone/>
            </a:pPr>
            <a:r>
              <a:rPr lang="fr-FR" sz="1300" dirty="0">
                <a:solidFill>
                  <a:srgbClr val="4F46E5"/>
                </a:solidFill>
                <a:latin typeface="Calibri"/>
              </a:rPr>
              <a:t>     → VAR:CONGES_PAYES</a:t>
            </a:r>
          </a:p>
          <a:p>
            <a:pPr algn="l">
              <a:buNone/>
            </a:pPr>
            <a:r>
              <a:rPr lang="fr-FR" sz="1100" dirty="0">
                <a:i/>
                <a:solidFill>
                  <a:srgbClr val="64748B"/>
                </a:solidFill>
                <a:latin typeface="Calibri"/>
              </a:rPr>
              <a:t>       Lit un élément variable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  Valeur fixe</a:t>
            </a:r>
          </a:p>
          <a:p>
            <a:pPr algn="l">
              <a:buNone/>
            </a:pPr>
            <a:r>
              <a:rPr lang="fr-FR" sz="1300" dirty="0">
                <a:solidFill>
                  <a:srgbClr val="4F46E5"/>
                </a:solidFill>
                <a:latin typeface="Calibri"/>
              </a:rPr>
              <a:t>     → 45</a:t>
            </a:r>
          </a:p>
          <a:p>
            <a:pPr algn="l">
              <a:buNone/>
            </a:pPr>
            <a:r>
              <a:rPr lang="fr-FR" sz="1100" dirty="0">
                <a:i/>
                <a:solidFill>
                  <a:srgbClr val="64748B"/>
                </a:solidFill>
                <a:latin typeface="Calibri"/>
              </a:rPr>
              <a:t>       Montant forfaitaire (€)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  Base tranches</a:t>
            </a:r>
          </a:p>
          <a:p>
            <a:pPr algn="l">
              <a:buNone/>
            </a:pPr>
            <a:r>
              <a:rPr lang="fr-FR" sz="1300" dirty="0">
                <a:solidFill>
                  <a:srgbClr val="4F46E5"/>
                </a:solidFill>
                <a:latin typeface="Calibri"/>
              </a:rPr>
              <a:t>     → TRANCHE_A * 0.0690</a:t>
            </a:r>
          </a:p>
          <a:p>
            <a:pPr algn="l">
              <a:buNone/>
            </a:pPr>
            <a:r>
              <a:rPr lang="fr-FR" sz="1100" dirty="0">
                <a:i/>
                <a:solidFill>
                  <a:srgbClr val="64748B"/>
                </a:solidFill>
                <a:latin typeface="Calibri"/>
              </a:rPr>
              <a:t>       Cotisation T1 plafonnée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  Tranche B</a:t>
            </a:r>
          </a:p>
          <a:p>
            <a:pPr algn="l">
              <a:buNone/>
            </a:pPr>
            <a:r>
              <a:rPr lang="fr-FR" sz="1300" dirty="0">
                <a:solidFill>
                  <a:srgbClr val="4F46E5"/>
                </a:solidFill>
                <a:latin typeface="Calibri"/>
              </a:rPr>
              <a:t>     → TRANCHE_B * 0.0864</a:t>
            </a:r>
          </a:p>
          <a:p>
            <a:pPr algn="l">
              <a:buNone/>
            </a:pPr>
            <a:r>
              <a:rPr lang="fr-FR" sz="1100" dirty="0">
                <a:i/>
                <a:solidFill>
                  <a:srgbClr val="64748B"/>
                </a:solidFill>
                <a:latin typeface="Calibri"/>
              </a:rPr>
              <a:t>       AGIRC-ARRCO T2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  Formule conditionnelle</a:t>
            </a:r>
          </a:p>
          <a:p>
            <a:pPr algn="l">
              <a:buNone/>
            </a:pPr>
            <a:r>
              <a:rPr lang="fr-FR" sz="1300" dirty="0">
                <a:solidFill>
                  <a:srgbClr val="4F46E5"/>
                </a:solidFill>
                <a:latin typeface="Calibri"/>
              </a:rPr>
              <a:t>     → BRUT_PRORATA</a:t>
            </a:r>
          </a:p>
          <a:p>
            <a:pPr algn="l">
              <a:buNone/>
            </a:pPr>
            <a:r>
              <a:rPr lang="fr-FR" sz="1100" dirty="0">
                <a:i/>
                <a:solidFill>
                  <a:srgbClr val="64748B"/>
                </a:solidFill>
                <a:latin typeface="Calibri"/>
              </a:rPr>
              <a:t>       Prorata si absences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6300000" y="4932000"/>
            <a:ext cx="5400000" cy="12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b/>
                <a:solidFill>
                  <a:srgbClr val="FFFFFF"/>
                </a:solidFill>
                <a:latin typeface="Calibri"/>
              </a:rPr>
              <a:t>Sécurité — safeEval()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•"/>
            </a:pPr>
            <a:r>
              <a:rPr lang="fr-FR" sz="1200" dirty="0">
                <a:solidFill>
                  <a:srgbClr val="FFFFFF"/>
                </a:solidFill>
                <a:latin typeface="Calibri"/>
              </a:rPr>
              <a:t>Whitelist stricte : [A-Z0-9_\s+\-*/.()] uniquement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•"/>
            </a:pPr>
            <a:r>
              <a:rPr lang="fr-FR" sz="1200" dirty="0">
                <a:solidFill>
                  <a:srgbClr val="FFFFFF"/>
                </a:solidFill>
                <a:latin typeface="Calibri"/>
              </a:rPr>
              <a:t>Aucun accès aux variables système ou aux APIs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•"/>
            </a:pPr>
            <a:r>
              <a:rPr lang="fr-FR" sz="1200" dirty="0">
                <a:solidFill>
                  <a:srgbClr val="FFFFFF"/>
                </a:solidFill>
                <a:latin typeface="Calibri"/>
              </a:rPr>
              <a:t>eval() JavaScript with sandboxed variables object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PayrollEngine — Algorithme en 3 Étapes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Le coeur du calcul des bulletins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288000" y="1152000"/>
            <a:ext cx="3780000" cy="39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94A3B8"/>
                </a:solidFill>
                <a:latin typeface="Calibri"/>
              </a:rPr>
              <a:t>ÉTAPE 1</a:t>
            </a:r>
          </a:p>
          <a:p>
            <a:pPr algn="c">
              <a:buNone/>
            </a:pPr>
            <a:r>
              <a:rPr lang="fr-FR" sz="1800" dirty="0">
                <a:b/>
                <a:solidFill>
                  <a:srgbClr val="FFFFFF"/>
                </a:solidFill>
                <a:latin typeface="Calibri"/>
              </a:rPr>
              <a:t>buildVariables()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88000" y="1548000"/>
            <a:ext cx="3780000" cy="46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Récupère le contrat de l'employé (salaire brut, ETP, dates)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Calcule BRUT = salaire_brut × ETP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Calcule BRUT_PRORATA si absences dans la période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Détermine TRANCHE_A = min(BRUT, PLAFOND_SS)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Détermine TRANCHE_B = max(0, BRUT - PLAFOND_SS)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Charge les éléments variables du mois (VAR:xxx)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Retourne un objet vars = { BRUT, TRANCHE_A, ... }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4104000" y="126000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4248000" y="1152000"/>
            <a:ext cx="3780000" cy="39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94A3B8"/>
                </a:solidFill>
                <a:latin typeface="Calibri"/>
              </a:rPr>
              <a:t>ÉTAPE 2</a:t>
            </a:r>
          </a:p>
          <a:p>
            <a:pPr algn="c">
              <a:buNone/>
            </a:pPr>
            <a:r>
              <a:rPr lang="fr-FR" sz="1800" dirty="0">
                <a:b/>
                <a:solidFill>
                  <a:srgbClr val="FFFFFF"/>
                </a:solidFill>
                <a:latin typeface="Calibri"/>
              </a:rPr>
              <a:t>evaluateRules()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248000" y="1548000"/>
            <a:ext cx="3780000" cy="46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Récupère les payroll_rules du tenant (triées par 'order')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Filtre les règles dont ruleApplies = vrai pour l'employé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Pour chaque règle, évalue la formula via safeEval(formula, vars)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Cas VAR:CODE → lecture directe dans les éléments variables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Expose le résultat dans vars pour les règles suivantes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Produit un tableau lines[] : { ruleCode, label, amount, type }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8063999" y="126000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800" dirty="0">
                <a:b/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8208000" y="1152000"/>
            <a:ext cx="3780000" cy="39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94A3B8"/>
                </a:solidFill>
                <a:latin typeface="Calibri"/>
              </a:rPr>
              <a:t>ÉTAPE 3</a:t>
            </a:r>
          </a:p>
          <a:p>
            <a:pPr algn="c">
              <a:buNone/>
            </a:pPr>
            <a:r>
              <a:rPr lang="fr-FR" sz="1800" dirty="0">
                <a:b/>
                <a:solidFill>
                  <a:srgbClr val="FFFFFF"/>
                </a:solidFill>
                <a:latin typeface="Calibri"/>
              </a:rPr>
              <a:t>computeTotals()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8208000" y="1548000"/>
            <a:ext cx="3780000" cy="468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grossSalary  = Σ earning (lignes type 'earning')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employeeDeductions = Σ (employee_contribution + deduction)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netBeforeTax = grossSalary + employeeDeductions (montants négatifs)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employerCost = grossSalary + Σ employer_contribution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netPayable   = netBeforeTax (PAS = 0 — via DSN ultérieurement)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Retourne { lines, grossSalary, netPayable, employerCost, workingDays 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Workflow Mensuel de la Paie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4 phases - De la creation a la cloture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288000" y="1152000"/>
            <a:ext cx="2772000" cy="39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1. Ouverture</a:t>
            </a:r>
          </a:p>
          <a:p>
            <a:pPr algn="c">
              <a:buNone/>
            </a:pPr>
            <a:r>
              <a:rPr lang="fr-FR" sz="1100" dirty="0">
                <a:i/>
                <a:solidFill>
                  <a:srgbClr val="E2E8F0"/>
                </a:solidFill>
                <a:latin typeface="Calibri"/>
              </a:rPr>
              <a:t>status: 'open'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88000" y="1548000"/>
            <a:ext cx="2772000" cy="324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Création de la période (mois/année)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Sélection de l'entité légale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Vérification des éléments variables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Saisie des heures supp / primes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Vérification des absences du mois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3096000" y="1224000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400" dirty="0">
                <a:b/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3204000" y="1152000"/>
            <a:ext cx="2772000" cy="39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2. Calcul</a:t>
            </a:r>
          </a:p>
          <a:p>
            <a:pPr algn="c">
              <a:buNone/>
            </a:pPr>
            <a:r>
              <a:rPr lang="fr-FR" sz="1100" dirty="0">
                <a:i/>
                <a:solidFill>
                  <a:srgbClr val="E2E8F0"/>
                </a:solidFill>
                <a:latin typeface="Calibri"/>
              </a:rPr>
              <a:t>status: 'calculating'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3204000" y="1548000"/>
            <a:ext cx="2772000" cy="324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POST /payroll/periods/:id/calculate-all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PayrollEngine tourne pour chaque employé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Création / màj des pay_slips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Contrainte UNIQUE (employee_id, period_id)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Durée : ~2-5 sec pour 50 employés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6012000" y="1224000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400" dirty="0">
                <a:b/>
                <a:solidFill>
                  <a:srgbClr val="D97706"/>
                </a:solidFill>
                <a:latin typeface="Calibri"/>
              </a:rPr>
              <a:t>→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6120000" y="1152000"/>
            <a:ext cx="2772000" cy="39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3. Vérification</a:t>
            </a:r>
          </a:p>
          <a:p>
            <a:pPr algn="c">
              <a:buNone/>
            </a:pPr>
            <a:r>
              <a:rPr lang="fr-FR" sz="1100" dirty="0">
                <a:i/>
                <a:solidFill>
                  <a:srgbClr val="E2E8F0"/>
                </a:solidFill>
                <a:latin typeface="Calibri"/>
              </a:rPr>
              <a:t>status: 'review'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6120000" y="1548000"/>
            <a:ext cx="2772000" cy="324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Contrôle des totaux (masse brute, net, coût)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Vérification bulletins individuels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Correction des éléments variables si besoin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Relancer le calcul si nécessaire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Validation manager / DAF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8928000" y="1224000"/>
            <a:ext cx="324000" cy="288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c">
              <a:buNone/>
            </a:pPr>
            <a:r>
              <a:rPr lang="fr-FR" sz="2400" dirty="0">
                <a:b/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9036000" y="1152000"/>
            <a:ext cx="2772000" cy="39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4. Clôture</a:t>
            </a:r>
          </a:p>
          <a:p>
            <a:pPr algn="c">
              <a:buNone/>
            </a:pPr>
            <a:r>
              <a:rPr lang="fr-FR" sz="1100" dirty="0">
                <a:i/>
                <a:solidFill>
                  <a:srgbClr val="E2E8F0"/>
                </a:solidFill>
                <a:latin typeface="Calibri"/>
              </a:rPr>
              <a:t>status: 'closed'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9036000" y="1548000"/>
            <a:ext cx="2772000" cy="324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POST /payroll/periods/:id/close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Statut → 'closed' (irréversible)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Génération PDF de tous les bulletins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Publication aux employés (badge 'Nouveau')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Export SEPA &amp; déclaration DSN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288000" y="5220000"/>
            <a:ext cx="11700000" cy="360000"/>
          </a:xfrm>
          <a:prstGeom prst="rect">
            <a:avLst/>
          </a:prstGeom>
          <a:solidFill>
            <a:srgbClr val="FEF9C3"/>
          </a:solidFill>
          <a:ln>
            <a:solidFill>
              <a:srgbClr val="D97706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b/>
                <a:solidFill>
                  <a:srgbClr val="D97706"/>
                </a:solidFill>
                <a:latin typeface="Calibri"/>
              </a:rPr>
              <a:t>⚠ Important :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Un période fermée (closed) ne peut plus être modifiée. Toujours vérifier les totaux AVANT de cliquer sur Clôturer.</a:t>
            </a:r>
          </a:p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288000" y="5688000"/>
            <a:ext cx="117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b/>
                <a:solidFill>
                  <a:srgbClr val="1E293B"/>
                </a:solidFill>
                <a:latin typeface="Calibri"/>
              </a:rPr>
              <a:t>Délais légaux DSN : 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≥ 50 salariés : avant le 5 du mois suivant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&lt; 50 salariés : avant le 15 du mois suivant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Exemple Concret - Calcul Bulletins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Employe : Developpeur Senior - Salaire brut : 4 900 EUR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360000" y="1152000"/>
            <a:ext cx="3600000" cy="28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Variables calculées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360000" y="1475999"/>
            <a:ext cx="3600000" cy="2340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algn="l">
              <a:buNone/>
            </a:pPr>
            <a:r>
              <a:rPr lang="fr-FR" sz="1300" dirty="0">
                <a:b/>
                <a:solidFill>
                  <a:srgbClr val="4F46E5"/>
                </a:solidFill>
                <a:latin typeface="Calibri"/>
              </a:rPr>
              <a:t>  BRUT             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4 900,00 €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4F46E5"/>
                </a:solidFill>
                <a:latin typeface="Calibri"/>
              </a:rPr>
              <a:t>  PLAFOND_SS       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3 864,00 €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4F46E5"/>
                </a:solidFill>
                <a:latin typeface="Calibri"/>
              </a:rPr>
              <a:t>  TRANCHE_A        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3 864,00 €   (= min(4900, 3864))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4F46E5"/>
                </a:solidFill>
                <a:latin typeface="Calibri"/>
              </a:rPr>
              <a:t>  TRANCHE_B        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1 036,00 €   (= 4900 - 3864)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4F46E5"/>
                </a:solidFill>
                <a:latin typeface="Calibri"/>
              </a:rPr>
              <a:t>  ETP              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1,0          (temps plein)</a:t>
            </a:r>
          </a:p>
          <a:p>
            <a:pPr algn="l">
              <a:buNone/>
            </a:pPr>
            <a:r>
              <a:rPr lang="fr-FR" sz="1300" dirty="0">
                <a:b/>
                <a:solidFill>
                  <a:srgbClr val="4F46E5"/>
                </a:solidFill>
                <a:latin typeface="Calibri"/>
              </a:rPr>
              <a:t>  BRUT_PRORATA      </a:t>
            </a:r>
            <a:r>
              <a:rPr lang="fr-FR" sz="1300" dirty="0">
                <a:solidFill>
                  <a:srgbClr val="1E293B"/>
                </a:solidFill>
                <a:latin typeface="Calibri"/>
              </a:rPr>
              <a:t>4 900,00 €   (0 jour d'absence)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4320000" y="1152000"/>
            <a:ext cx="7380000" cy="28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Lignes du bulletin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4320000" y="1475999"/>
            <a:ext cx="503999" cy="251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824000" y="1475999"/>
            <a:ext cx="1980000" cy="251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6803999" y="1475999"/>
            <a:ext cx="1080000" cy="251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FFFFFF"/>
                </a:solidFill>
                <a:latin typeface="Calibri"/>
              </a:rPr>
              <a:t>Gain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7883999" y="1475999"/>
            <a:ext cx="1080000" cy="251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FFFFFF"/>
                </a:solidFill>
                <a:latin typeface="Calibri"/>
              </a:rPr>
              <a:t>Retenue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8964000" y="1475999"/>
            <a:ext cx="900000" cy="251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4320000" y="1728000"/>
            <a:ext cx="503999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1000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4824000" y="1728000"/>
            <a:ext cx="19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Salaire de base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6803999" y="1728000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4 900,00 €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7883999" y="1728000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8964000" y="1728000"/>
            <a:ext cx="90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earning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320000" y="2033999"/>
            <a:ext cx="503999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4100</a:t>
            </a:r>
          </a:p>
        </p:txBody>
      </p:sp>
      <p:sp>
        <p:nvSpPr>
          <p:cNvPr id="17" name="box17"/>
          <p:cNvSpPr>
            <a:spLocks noGrp="1"/>
          </p:cNvSpPr>
          <p:nvPr/>
        </p:nvSpPr>
        <p:spPr>
          <a:xfrm>
            <a:off x="4824000" y="2033999"/>
            <a:ext cx="19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CSG déductible 6.80%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6803999" y="2033999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7883999" y="2033999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-327,35 €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8964000" y="2033999"/>
            <a:ext cx="90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4320000" y="2340000"/>
            <a:ext cx="503999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4110</a:t>
            </a:r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4824000" y="2340000"/>
            <a:ext cx="19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CSG non déductible 2.40%</a:t>
            </a:r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6803999" y="2340000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4" name="box24"/>
          <p:cNvSpPr>
            <a:spLocks noGrp="1"/>
          </p:cNvSpPr>
          <p:nvPr/>
        </p:nvSpPr>
        <p:spPr>
          <a:xfrm>
            <a:off x="7883999" y="2340000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-115,54 €</a:t>
            </a:r>
          </a:p>
        </p:txBody>
      </p:sp>
      <p:sp>
        <p:nvSpPr>
          <p:cNvPr id="25" name="box25"/>
          <p:cNvSpPr>
            <a:spLocks noGrp="1"/>
          </p:cNvSpPr>
          <p:nvPr/>
        </p:nvSpPr>
        <p:spPr>
          <a:xfrm>
            <a:off x="8964000" y="2340000"/>
            <a:ext cx="90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4320000" y="2646000"/>
            <a:ext cx="503999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4120</a:t>
            </a:r>
          </a:p>
        </p:txBody>
      </p:sp>
      <p:sp>
        <p:nvSpPr>
          <p:cNvPr id="27" name="box27"/>
          <p:cNvSpPr>
            <a:spLocks noGrp="1"/>
          </p:cNvSpPr>
          <p:nvPr/>
        </p:nvSpPr>
        <p:spPr>
          <a:xfrm>
            <a:off x="4824000" y="2646000"/>
            <a:ext cx="19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CRDS 0.50%</a:t>
            </a:r>
          </a:p>
        </p:txBody>
      </p:sp>
      <p:sp>
        <p:nvSpPr>
          <p:cNvPr id="28" name="box28"/>
          <p:cNvSpPr>
            <a:spLocks noGrp="1"/>
          </p:cNvSpPr>
          <p:nvPr/>
        </p:nvSpPr>
        <p:spPr>
          <a:xfrm>
            <a:off x="6803999" y="2646000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29" name="box29"/>
          <p:cNvSpPr>
            <a:spLocks noGrp="1"/>
          </p:cNvSpPr>
          <p:nvPr/>
        </p:nvSpPr>
        <p:spPr>
          <a:xfrm>
            <a:off x="7883999" y="2646000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-24,07 €</a:t>
            </a:r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8964000" y="2646000"/>
            <a:ext cx="90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4320000" y="2951999"/>
            <a:ext cx="503999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4500</a:t>
            </a:r>
          </a:p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4824000" y="2951999"/>
            <a:ext cx="19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Retraite base sal. 6.90%</a:t>
            </a:r>
          </a:p>
        </p:txBody>
      </p:sp>
      <p:sp>
        <p:nvSpPr>
          <p:cNvPr id="33" name="box33"/>
          <p:cNvSpPr>
            <a:spLocks noGrp="1"/>
          </p:cNvSpPr>
          <p:nvPr/>
        </p:nvSpPr>
        <p:spPr>
          <a:xfrm>
            <a:off x="6803999" y="2951999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34" name="box34"/>
          <p:cNvSpPr>
            <a:spLocks noGrp="1"/>
          </p:cNvSpPr>
          <p:nvPr/>
        </p:nvSpPr>
        <p:spPr>
          <a:xfrm>
            <a:off x="7883999" y="2951999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-266,62 €</a:t>
            </a:r>
          </a:p>
        </p:txBody>
      </p:sp>
      <p:sp>
        <p:nvSpPr>
          <p:cNvPr id="35" name="box35"/>
          <p:cNvSpPr>
            <a:spLocks noGrp="1"/>
          </p:cNvSpPr>
          <p:nvPr/>
        </p:nvSpPr>
        <p:spPr>
          <a:xfrm>
            <a:off x="8964000" y="2951999"/>
            <a:ext cx="90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36" name="box36"/>
          <p:cNvSpPr>
            <a:spLocks noGrp="1"/>
          </p:cNvSpPr>
          <p:nvPr/>
        </p:nvSpPr>
        <p:spPr>
          <a:xfrm>
            <a:off x="4320000" y="3258000"/>
            <a:ext cx="503999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4600</a:t>
            </a:r>
          </a:p>
        </p:txBody>
      </p:sp>
      <p:sp>
        <p:nvSpPr>
          <p:cNvPr id="37" name="box37"/>
          <p:cNvSpPr>
            <a:spLocks noGrp="1"/>
          </p:cNvSpPr>
          <p:nvPr/>
        </p:nvSpPr>
        <p:spPr>
          <a:xfrm>
            <a:off x="4824000" y="3258000"/>
            <a:ext cx="19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AGIRC-ARRCO T1 3.15%</a:t>
            </a:r>
          </a:p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6803999" y="3258000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39" name="box39"/>
          <p:cNvSpPr>
            <a:spLocks noGrp="1"/>
          </p:cNvSpPr>
          <p:nvPr/>
        </p:nvSpPr>
        <p:spPr>
          <a:xfrm>
            <a:off x="7883999" y="3258000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-121,72 €</a:t>
            </a:r>
          </a:p>
        </p:txBody>
      </p:sp>
      <p:sp>
        <p:nvSpPr>
          <p:cNvPr id="40" name="box40"/>
          <p:cNvSpPr>
            <a:spLocks noGrp="1"/>
          </p:cNvSpPr>
          <p:nvPr/>
        </p:nvSpPr>
        <p:spPr>
          <a:xfrm>
            <a:off x="8964000" y="3258000"/>
            <a:ext cx="90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41" name="box41"/>
          <p:cNvSpPr>
            <a:spLocks noGrp="1"/>
          </p:cNvSpPr>
          <p:nvPr/>
        </p:nvSpPr>
        <p:spPr>
          <a:xfrm>
            <a:off x="4320000" y="3563999"/>
            <a:ext cx="503999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4620</a:t>
            </a:r>
          </a:p>
        </p:txBody>
      </p:sp>
      <p:sp>
        <p:nvSpPr>
          <p:cNvPr id="42" name="box42"/>
          <p:cNvSpPr>
            <a:spLocks noGrp="1"/>
          </p:cNvSpPr>
          <p:nvPr/>
        </p:nvSpPr>
        <p:spPr>
          <a:xfrm>
            <a:off x="4824000" y="3563999"/>
            <a:ext cx="19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AGIRC-ARRCO T2 8.64%</a:t>
            </a:r>
          </a:p>
        </p:txBody>
      </p:sp>
      <p:sp>
        <p:nvSpPr>
          <p:cNvPr id="43" name="box43"/>
          <p:cNvSpPr>
            <a:spLocks noGrp="1"/>
          </p:cNvSpPr>
          <p:nvPr/>
        </p:nvSpPr>
        <p:spPr>
          <a:xfrm>
            <a:off x="6803999" y="3563999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4" name="box44"/>
          <p:cNvSpPr>
            <a:spLocks noGrp="1"/>
          </p:cNvSpPr>
          <p:nvPr/>
        </p:nvSpPr>
        <p:spPr>
          <a:xfrm>
            <a:off x="7883999" y="3563999"/>
            <a:ext cx="108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-89,51 €</a:t>
            </a:r>
          </a:p>
        </p:txBody>
      </p:sp>
      <p:sp>
        <p:nvSpPr>
          <p:cNvPr id="45" name="box45"/>
          <p:cNvSpPr>
            <a:spLocks noGrp="1"/>
          </p:cNvSpPr>
          <p:nvPr/>
        </p:nvSpPr>
        <p:spPr>
          <a:xfrm>
            <a:off x="8964000" y="3563999"/>
            <a:ext cx="900000" cy="295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46" name="box46"/>
          <p:cNvSpPr>
            <a:spLocks noGrp="1"/>
          </p:cNvSpPr>
          <p:nvPr/>
        </p:nvSpPr>
        <p:spPr>
          <a:xfrm>
            <a:off x="4320000" y="3870000"/>
            <a:ext cx="503999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5000</a:t>
            </a:r>
          </a:p>
        </p:txBody>
      </p:sp>
      <p:sp>
        <p:nvSpPr>
          <p:cNvPr id="47" name="box47"/>
          <p:cNvSpPr>
            <a:spLocks noGrp="1"/>
          </p:cNvSpPr>
          <p:nvPr/>
        </p:nvSpPr>
        <p:spPr>
          <a:xfrm>
            <a:off x="4824000" y="3870000"/>
            <a:ext cx="19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Mutuelle sal.</a:t>
            </a:r>
          </a:p>
        </p:txBody>
      </p:sp>
      <p:sp>
        <p:nvSpPr>
          <p:cNvPr id="48" name="box48"/>
          <p:cNvSpPr>
            <a:spLocks noGrp="1"/>
          </p:cNvSpPr>
          <p:nvPr/>
        </p:nvSpPr>
        <p:spPr>
          <a:xfrm>
            <a:off x="6803999" y="3870000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49" name="box49"/>
          <p:cNvSpPr>
            <a:spLocks noGrp="1"/>
          </p:cNvSpPr>
          <p:nvPr/>
        </p:nvSpPr>
        <p:spPr>
          <a:xfrm>
            <a:off x="7883999" y="3870000"/>
            <a:ext cx="108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DC2626"/>
                </a:solidFill>
                <a:latin typeface="Calibri"/>
              </a:rPr>
              <a:t>-45,00 €</a:t>
            </a:r>
          </a:p>
        </p:txBody>
      </p:sp>
      <p:sp>
        <p:nvSpPr>
          <p:cNvPr id="50" name="box50"/>
          <p:cNvSpPr>
            <a:spLocks noGrp="1"/>
          </p:cNvSpPr>
          <p:nvPr/>
        </p:nvSpPr>
        <p:spPr>
          <a:xfrm>
            <a:off x="8964000" y="3870000"/>
            <a:ext cx="900000" cy="295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solidFill>
                  <a:srgbClr val="1E293B"/>
                </a:solidFill>
                <a:latin typeface="Calibri"/>
              </a:rPr>
              <a:t>sal</a:t>
            </a:r>
          </a:p>
        </p:txBody>
      </p:sp>
      <p:sp>
        <p:nvSpPr>
          <p:cNvPr id="51" name="box51"/>
          <p:cNvSpPr>
            <a:spLocks noGrp="1"/>
          </p:cNvSpPr>
          <p:nvPr/>
        </p:nvSpPr>
        <p:spPr>
          <a:xfrm>
            <a:off x="4320000" y="4176000"/>
            <a:ext cx="503999" cy="29520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16A34A"/>
                </a:solidFill>
                <a:latin typeface="Calibri"/>
              </a:rPr>
              <a:t/>
            </a:r>
          </a:p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4824000" y="4176000"/>
            <a:ext cx="1980000" cy="29520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l">
              <a:buNone/>
            </a:pPr>
            <a:r>
              <a:rPr lang="fr-FR" sz="1200" dirty="0">
                <a:b/>
                <a:solidFill>
                  <a:srgbClr val="16A34A"/>
                </a:solidFill>
                <a:latin typeface="Calibri"/>
              </a:rPr>
              <a:t>NET À PAYER</a:t>
            </a:r>
          </a:p>
        </p:txBody>
      </p:sp>
      <p:sp>
        <p:nvSpPr>
          <p:cNvPr id="53" name="box53"/>
          <p:cNvSpPr>
            <a:spLocks noGrp="1"/>
          </p:cNvSpPr>
          <p:nvPr/>
        </p:nvSpPr>
        <p:spPr>
          <a:xfrm>
            <a:off x="6803999" y="4176000"/>
            <a:ext cx="1080000" cy="29520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16A34A"/>
                </a:solidFill>
                <a:latin typeface="Calibri"/>
              </a:rPr>
              <a:t>3 910,19 €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7883999" y="4176000"/>
            <a:ext cx="1080000" cy="29520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8964000" y="4176000"/>
            <a:ext cx="900000" cy="295200"/>
          </a:xfrm>
          <a:prstGeom prst="rect">
            <a:avLst/>
          </a:prstGeom>
          <a:solidFill>
            <a:srgbClr val="EEF2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200" dirty="0">
                <a:b/>
                <a:solidFill>
                  <a:srgbClr val="1E293B"/>
                </a:solidFill>
                <a:latin typeface="Calibri"/>
              </a:rPr>
              <a:t>NET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360000" y="4031999"/>
            <a:ext cx="900000" cy="25199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Salaire brut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360000" y="4284000"/>
            <a:ext cx="9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16A34A"/>
                </a:solidFill>
                <a:latin typeface="Calibri"/>
              </a:rPr>
              <a:t>4 900,00 €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368000" y="4031999"/>
            <a:ext cx="900000" cy="25199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Cotisations sal.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1368000" y="4284000"/>
            <a:ext cx="9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DC2626"/>
                </a:solidFill>
                <a:latin typeface="Calibri"/>
              </a:rPr>
              <a:t>−989,81 €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2376000" y="4031999"/>
            <a:ext cx="900000" cy="25199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Net à payer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2376000" y="4284000"/>
            <a:ext cx="9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4F46E5"/>
                </a:solidFill>
                <a:latin typeface="Calibri"/>
              </a:rPr>
              <a:t>3 910,19 €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3383999" y="4031999"/>
            <a:ext cx="900000" cy="25199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100" dirty="0">
                <a:b/>
                <a:solidFill>
                  <a:srgbClr val="FFFFFF"/>
                </a:solidFill>
                <a:latin typeface="Calibri"/>
              </a:rPr>
              <a:t>Coût employeur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3383999" y="4284000"/>
            <a:ext cx="9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D97706"/>
                </a:solidFill>
                <a:latin typeface="Calibri"/>
              </a:rPr>
              <a:t>6 347,29 €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4A1942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Checklist Mensuelle RH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Processus complet en 6 etapes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360000" y="1152000"/>
            <a:ext cx="540000" cy="208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J-5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900000" y="1152000"/>
            <a:ext cx="3240000" cy="39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Collecte des éléments variables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900000" y="1548000"/>
            <a:ext cx="3240000" cy="169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Saisir heures supplémentaires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Enregistrer primes exceptionnelles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Valider absences du mois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4320000" y="1152000"/>
            <a:ext cx="540000" cy="208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J-3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860000" y="1152000"/>
            <a:ext cx="3240000" cy="39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Contrôle des données employés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4860000" y="1548000"/>
            <a:ext cx="3240000" cy="169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Vérifier nouveaux contrats / sorties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Màj salaires si avenants signés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Vérifier taux AT/MP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8280000" y="1152000"/>
            <a:ext cx="540000" cy="208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J-2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8820000" y="1152000"/>
            <a:ext cx="3240000" cy="39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Ouverture de la période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8820000" y="1548000"/>
            <a:ext cx="3240000" cy="169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Créer la période (mois/année + entité légale)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Vérifier règles de paie actives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Lancer calcul test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360000" y="3744000"/>
            <a:ext cx="540000" cy="208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J-1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900000" y="3744000"/>
            <a:ext cx="3240000" cy="39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Vérification &amp; corrections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900000" y="4140000"/>
            <a:ext cx="3240000" cy="169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EA580C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Contrôler totaux (masse brute, net)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EA580C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Vérifier bulletins individuels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EA580C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Corriger erreurs détectées</a:t>
            </a:r>
          </a:p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4320000" y="3744000"/>
            <a:ext cx="540000" cy="208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J0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860000" y="3744000"/>
            <a:ext cx="3240000" cy="39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Clôture &amp; publication</a:t>
            </a:r>
          </a:p>
        </p:txBody>
      </p:sp>
      <p:sp>
        <p:nvSpPr>
          <p:cNvPr id="17" name="box17"/>
          <p:cNvSpPr>
            <a:spLocks noGrp="1"/>
          </p:cNvSpPr>
          <p:nvPr/>
        </p:nvSpPr>
        <p:spPr>
          <a:xfrm>
            <a:off x="4860000" y="4140000"/>
            <a:ext cx="3240000" cy="169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Clôturer la période (irréversible)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Générer &amp; publier les bulletins PDF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Notifier les employés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8280000" y="3744000"/>
            <a:ext cx="540000" cy="208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600" dirty="0">
                <a:b/>
                <a:solidFill>
                  <a:srgbClr val="FFFFFF"/>
                </a:solidFill>
                <a:latin typeface="Calibri"/>
              </a:rPr>
              <a:t>J+1</a:t>
            </a:r>
          </a:p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8820000" y="3744000"/>
            <a:ext cx="3240000" cy="39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Export &amp; déclarations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8820000" y="4140000"/>
            <a:ext cx="3240000" cy="169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Générer virement SEPA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Préparer DSN mensuelle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Archiver les bulletins (50 ans)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3200" cy="6858000"/>
          <a:chOff x="0" y="0"/>
          <a:chExt cx="12193200" cy="685800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12193200" cy="100799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3200" dirty="0">
                <a:b/>
                <a:solidFill>
                  <a:srgbClr val="FFFFFF"/>
                </a:solidFill>
                <a:latin typeface="Calibri"/>
              </a:rPr>
              <a:t>Points Cles a Retenir</a:t>
            </a:r>
          </a:p>
          <a:p>
            <a:pPr algn="c">
              <a:buNone/>
            </a:pPr>
            <a:r>
              <a:rPr lang="fr-FR" sz="1800" dirty="0">
                <a:solidFill>
                  <a:srgbClr val="CBD5E1"/>
                </a:solidFill>
                <a:latin typeface="Calibri"/>
              </a:rPr>
              <a:t>Les erreurs frequentes et comment les eviter</a:t>
            </a:r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360000" y="1152000"/>
            <a:ext cx="5580000" cy="32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Formule NOT NULL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360000" y="1476000"/>
            <a:ext cx="5580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Chaque rubrique DOIT avoir une formula (même les cotisations à taux)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Format correct : BRUT * 0.9825 * 0.068  (PAS rate: 0.068 seul)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C262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Le moteur évalue formula, pas le champ rate directement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6300000" y="1152000"/>
            <a:ext cx="5580000" cy="324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Contrainte UNIQUE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6300000" y="1476000"/>
            <a:ext cx="5580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La table pay_slips nécessite UNIQUE(employee_id, period_id)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Sans cette contrainte, onConflictDoUpdate échoue silencieusement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D97706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Vérifier que la contrainte existe dans chaque schema tenant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360000" y="2916000"/>
            <a:ext cx="5580000" cy="32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Période fermée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360000" y="3240000"/>
            <a:ext cx="5580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Une période 'closed' ne peut plus être recalculée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Toujours rester en 'open' ou 'review' pendant les vérifications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2563EB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En cas d'erreur : contacter super_admin pour intervention DB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6300000" y="2916000"/>
            <a:ext cx="5580000" cy="324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Isolation multi-tenant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6300000" y="3240000"/>
            <a:ext cx="5580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Chaque tenant a son schema PostgreSQL isolé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Toutes les requêtes passent par SET search_path = {schema}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16A34A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Un tenant ne peut jamais accéder aux données d'un autre tenant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360000" y="4680000"/>
            <a:ext cx="5580000" cy="324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Éléments variables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360000" y="5004000"/>
            <a:ext cx="5580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Les primes et heures supp sont dans variable_elements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Accessibles via préfixe VAR: dans les formules (ex: VAR:PRIME_EXCEP)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4F46E5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Doivent être saisis AVANT de lancer le calcul de la période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6300000" y="4680000"/>
            <a:ext cx="5580000" cy="32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0000" rIns="90000" tIns="54000" bIns="54000" anchor="ctr">
            <a:normAutofit/>
          </a:bodyPr>
          <a:lstStyle/>
          <a:p>
            <a:pPr algn="c">
              <a:buNone/>
            </a:pPr>
            <a:r>
              <a:rPr lang="fr-FR" sz="1500" dirty="0">
                <a:b/>
                <a:solidFill>
                  <a:srgbClr val="FFFFFF"/>
                </a:solidFill>
                <a:latin typeface="Calibri"/>
              </a:rPr>
              <a:t>DSN &amp; conformité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6300000" y="5004000"/>
            <a:ext cx="5580000" cy="1404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0000" rIns="90000" tIns="54000" bIns="54000" anchor="t">
            <a:normAutofit/>
          </a:bodyPr>
          <a:lstStyle/>
          <a:p>
            <a:pPr marL="216000" indent="-180000" lvl="0">
              <a:spcBef>
                <a:spcPts val="120"/>
              </a:spcBef>
              <a:buFont typeface="Arial"/>
              <a:buClr>
                <a:srgbClr val="7C3AED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DSN à transmettre avant le 5 M+1 (≥50 sal.) ou 15 M+1 (&lt;50)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7C3AED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NIR et IBAN stockés chiffrés AES-256 (obligation RGPD)</a:t>
            </a:r>
          </a:p>
          <a:p>
            <a:pPr marL="216000" indent="-180000" lvl="0">
              <a:spcBef>
                <a:spcPts val="120"/>
              </a:spcBef>
              <a:buFont typeface="Arial"/>
              <a:buClr>
                <a:srgbClr val="7C3AED"/>
              </a:buClr>
              <a:buChar char="▸"/>
            </a:pPr>
            <a:r>
              <a:rPr lang="fr-FR" sz="1300" dirty="0">
                <a:solidFill>
                  <a:srgbClr val="1E293B"/>
                </a:solidFill>
                <a:latin typeface="Calibri"/>
              </a:rPr>
              <a:t>Bulletins à conserver 50 ans / dossier RH 5 ans post-départ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usRH">
  <a:themeElements>
    <a:clrScheme name="NexusRH">
      <a:dk1>
        <a:srgbClr val="1E293B"/>
      </a:dk1>
      <a:lt1>
        <a:srgbClr val="FFFFFF"/>
      </a:lt1>
      <a:dk2>
        <a:srgbClr val="334155"/>
      </a:dk2>
      <a:lt2>
        <a:srgbClr val="F1F5F9"/>
      </a:lt2>
      <a:accent1>
        <a:srgbClr val="4F46E5"/>
      </a:accent1>
      <a:accent2>
        <a:srgbClr val="16A34A"/>
      </a:accent2>
      <a:accent3>
        <a:srgbClr val="D97706"/>
      </a:accent3>
      <a:accent4>
        <a:srgbClr val="DC2626"/>
      </a:accent4>
      <a:accent5>
        <a:srgbClr val="2563EB"/>
      </a:accent5>
      <a:accent6>
        <a:srgbClr val="7C3AED"/>
      </a:accent6>
      <a:hlink>
        <a:srgbClr val="4F46E5"/>
      </a:hlink>
      <a:folHlink>
        <a:srgbClr val="818CF8"/>
      </a:folHlink>
    </a:clrScheme>
    <a:fontScheme name="NexusRH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